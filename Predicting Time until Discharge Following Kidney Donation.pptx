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70" r:id="rId9"/>
    <p:sldId id="261" r:id="rId10"/>
    <p:sldId id="271" r:id="rId11"/>
    <p:sldId id="262" r:id="rId12"/>
    <p:sldId id="263" r:id="rId13"/>
    <p:sldId id="272" r:id="rId14"/>
    <p:sldId id="275" r:id="rId15"/>
    <p:sldId id="264" r:id="rId16"/>
    <p:sldId id="273" r:id="rId17"/>
    <p:sldId id="274" r:id="rId18"/>
    <p:sldId id="265" r:id="rId19"/>
    <p:sldId id="266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4D74-9438-7DDD-3499-E04E675F5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55B3D-ACA0-0C82-EFAB-217CDE1DD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1E71D-D2C6-D046-3B83-628259DF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2977-1EB3-4C9A-B861-D38BB5CF1FE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7E829-595F-E1AA-0A49-90102AEB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B9F48-00D2-A8D0-EDF6-EB5407AEA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5591-933F-427D-89D9-85A354EBA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8719F-4647-9A63-E494-29574E29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F973-884F-EA45-9AEF-845D0BE0D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48F8C-34AE-9D1F-0489-DE3BF698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2977-1EB3-4C9A-B861-D38BB5CF1FE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93BA-B2E6-6A6E-F835-83301168D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FF1AE-AA8E-6F51-6EA8-819515F9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5591-933F-427D-89D9-85A354EBA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6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319EC-49AA-A974-72CC-1CACFB985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117F7-A2D0-A8CD-D6D8-4B7F81298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17C35-45FD-894E-6F6F-B6CE34E29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2977-1EB3-4C9A-B861-D38BB5CF1FE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C774F-024C-DA40-55B7-0A213F6A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349F6-94D1-9242-9006-CE0C68A8C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5591-933F-427D-89D9-85A354EBA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39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A0A5-DF3B-33EF-A72C-A2D9E0E1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E23E3-D6BC-E844-22FB-0667050B80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47F14-C276-83D9-0F95-1F65FFEE4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57500-89E2-0FE3-F04E-B842A9B6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2977-1EB3-4C9A-B861-D38BB5CF1FE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74B1E-4E3D-1B88-E0AF-680F0760A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C62F6-C700-3BEC-F60E-6767C52B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5591-933F-427D-89D9-85A354EBA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5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23C2-DED8-1CAF-82A5-C9814158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BACC5-E0AC-70D6-2DC0-FB2F39AB6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9DF87-BEBF-ABEB-14DE-76F7D04FC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A2CE1-6181-D822-9560-97A05BD47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13106-4F84-464C-AD03-9096FEFF6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49D464-5226-1482-561F-6EB4031FF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2977-1EB3-4C9A-B861-D38BB5CF1FE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35E32-FA0C-4E63-09B9-8109E1D86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D1B1BD-558B-B827-5EF2-70193C6A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5591-933F-427D-89D9-85A354EBA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2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E5E0-489F-DA53-6275-7F0F1923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1888C-D690-34EF-0ED1-CA024F4E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2977-1EB3-4C9A-B861-D38BB5CF1FE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9255F-4772-78CB-4EB7-2BECD271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7D718-0A4B-3205-4F4B-39EE8CCD7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5591-933F-427D-89D9-85A354EBA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3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13D3A-0192-21E7-EEDE-DCAE183B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2977-1EB3-4C9A-B861-D38BB5CF1FE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BD715-F209-AD1B-A429-AEEC22301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C15DE-B60F-7127-3D6A-2C72DE4A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5591-933F-427D-89D9-85A354EBA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8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B15F7-8462-844B-BCDD-CFE80E0FF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5EC10-1691-568C-77A0-8D30A900C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6C0B0-0596-C3C7-E62E-3C4872DCE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AFF54-25B3-82E1-F00A-267E05D8C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2977-1EB3-4C9A-B861-D38BB5CF1FE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57D97-D6B6-FC47-540C-F89BBCB38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64A02-DE22-7ECC-8B98-CCC7C9FF1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5591-933F-427D-89D9-85A354EBA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3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2011-388D-4EF0-04C8-08BAD717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BF1F5-0378-1D1C-9BF6-2ED192FE25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148A4-96BC-E58B-420C-9E7567AA4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C4867-02B6-66A3-F4D0-D6EA65840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2977-1EB3-4C9A-B861-D38BB5CF1FE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70824-45C8-55E3-9070-A9176F74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4053A-1187-6A34-7600-3000CFCAA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5591-933F-427D-89D9-85A354EBA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0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8D7AA-6531-77BC-6582-64ED8A3E6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54DCD-EAB9-3659-37D9-389198361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20FD3-B400-0DE6-5742-7E4A46988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2977-1EB3-4C9A-B861-D38BB5CF1FE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12C96-B37F-C7C8-BC70-FBB7804D1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91EF7-C1BF-2D27-92F2-E496FF55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5591-933F-427D-89D9-85A354EBA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01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0A8D6-1DA1-9BA4-A328-A4A9E721B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F3A36-AFA3-31B4-1E08-C33C41272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48D86-B373-B1D2-28B5-11B3BE76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2977-1EB3-4C9A-B861-D38BB5CF1FE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BF8D7-0CC7-616A-1C30-695279D2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91189-5D8D-4BFE-1606-B078DB6B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5591-933F-427D-89D9-85A354EBA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5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72509-3DE7-F2A4-6C00-75FA3953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DBBCB-3225-5139-3E75-30771D0E6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43B3E-D895-C530-D766-89C0E5726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002977-1EB3-4C9A-B861-D38BB5CF1FE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04D4B-2ABE-88CE-D30E-5E1A36C43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DEB64-FE8A-4908-87E2-22FA08FE4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25591-933F-427D-89D9-85A354EBA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0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Hagen/HDS510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1CCB-0C04-1246-969C-D2B075D044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Time until Discharge Following Kidney Donation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04B51-796A-FBE7-3E2D-CC7A25726B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Stewart Hagen</a:t>
            </a:r>
          </a:p>
          <a:p>
            <a:r>
              <a:rPr lang="en-US" dirty="0"/>
              <a:t>HDS 5101 – Predictive Modeling</a:t>
            </a:r>
          </a:p>
        </p:txBody>
      </p:sp>
    </p:spTree>
    <p:extLst>
      <p:ext uri="{BB962C8B-B14F-4D97-AF65-F5344CB8AC3E}">
        <p14:creationId xmlns:p14="http://schemas.microsoft.com/office/powerpoint/2010/main" val="351940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DB2C-DEDC-268A-73DC-EE5F2775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and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9BBC9-D14A-3FE5-AFBA-D51F5773A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9049 observations of 1297 variables</a:t>
            </a:r>
          </a:p>
          <a:p>
            <a:pPr lvl="1"/>
            <a:r>
              <a:rPr lang="en-US" dirty="0"/>
              <a:t>Population: kidney donors at three medical sites at the University of Birmingham, Alabama; the University of Minnesota; or the Mayo Clinic between August 2007 and June 2011</a:t>
            </a:r>
          </a:p>
          <a:p>
            <a:r>
              <a:rPr lang="en-US" dirty="0"/>
              <a:t>98 Subjects did not have any data, and were removed</a:t>
            </a:r>
          </a:p>
          <a:p>
            <a:pPr lvl="1"/>
            <a:r>
              <a:rPr lang="en-US" dirty="0"/>
              <a:t>A further 41 were removed for lacking subject ID, discharge date, or outlier values</a:t>
            </a:r>
          </a:p>
          <a:p>
            <a:pPr lvl="1"/>
            <a:r>
              <a:rPr lang="en-US" dirty="0"/>
              <a:t>Total number following these removals: 8713</a:t>
            </a:r>
          </a:p>
          <a:p>
            <a:r>
              <a:rPr lang="en-US" dirty="0"/>
              <a:t>From the 1297 variables, only 12 were chosen for analysis</a:t>
            </a:r>
          </a:p>
          <a:p>
            <a:pPr lvl="1"/>
            <a:r>
              <a:rPr lang="en-US" dirty="0"/>
              <a:t>Facility ID, Subject ID, Weight + Units, Height + Units, History of Alcoholism, History of Illicit Drug Usage, History of Tobacco Usage, Chronic Pain, and Time until Discharge Post Donation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22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5548D-2148-654E-24F2-A5FCBAA8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16B3E-BD16-B74B-BDDE-23E1CD568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Necessary Changes Made to the Data:</a:t>
            </a:r>
          </a:p>
          <a:p>
            <a:pPr lvl="1"/>
            <a:r>
              <a:rPr lang="en-US" dirty="0"/>
              <a:t>Removed those who only had a subject ID</a:t>
            </a:r>
          </a:p>
          <a:p>
            <a:pPr lvl="1"/>
            <a:r>
              <a:rPr lang="en-US" dirty="0"/>
              <a:t>Removed those who did not have a subject ID</a:t>
            </a:r>
          </a:p>
          <a:p>
            <a:pPr lvl="1"/>
            <a:r>
              <a:rPr lang="en-US" dirty="0"/>
              <a:t>Changed 998 values (chose not to respond) to NA values</a:t>
            </a:r>
          </a:p>
          <a:p>
            <a:pPr lvl="1"/>
            <a:r>
              <a:rPr lang="en-US" dirty="0"/>
              <a:t>Changed categorical variables to factors</a:t>
            </a:r>
          </a:p>
          <a:p>
            <a:pPr lvl="1"/>
            <a:r>
              <a:rPr lang="en-US" dirty="0"/>
              <a:t>Changed Date of Birth to Age</a:t>
            </a:r>
          </a:p>
          <a:p>
            <a:pPr lvl="1"/>
            <a:r>
              <a:rPr lang="en-US" dirty="0"/>
              <a:t>Standardized Height and Weight to one unit (Kg and cm)</a:t>
            </a:r>
          </a:p>
          <a:p>
            <a:pPr lvl="1"/>
            <a:r>
              <a:rPr lang="en-US" dirty="0"/>
              <a:t>Removed units for height and weight</a:t>
            </a:r>
          </a:p>
          <a:p>
            <a:pPr lvl="1"/>
            <a:r>
              <a:rPr lang="en-US" dirty="0"/>
              <a:t>Classified patients with outcomes over 100 as outliers (12 patients)</a:t>
            </a:r>
          </a:p>
        </p:txBody>
      </p:sp>
    </p:spTree>
    <p:extLst>
      <p:ext uri="{BB962C8B-B14F-4D97-AF65-F5344CB8AC3E}">
        <p14:creationId xmlns:p14="http://schemas.microsoft.com/office/powerpoint/2010/main" val="1459699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D117A-D613-8422-FBE0-64FAEC5A2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FA64B-8BDF-63F1-090D-D05AF4799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Mean and Standard Deviations of Each Continuous Variable:</a:t>
            </a:r>
          </a:p>
          <a:p>
            <a:pPr lvl="1"/>
            <a:r>
              <a:rPr lang="en-US" dirty="0"/>
              <a:t>Weight: 76.9 Kg (16.35)</a:t>
            </a:r>
          </a:p>
          <a:p>
            <a:pPr lvl="1"/>
            <a:r>
              <a:rPr lang="en-US" dirty="0"/>
              <a:t>Height: 170 cm (9.77)</a:t>
            </a:r>
          </a:p>
          <a:p>
            <a:pPr lvl="1"/>
            <a:r>
              <a:rPr lang="en-US" dirty="0"/>
              <a:t>Age: 39.7 years (11.46)</a:t>
            </a:r>
          </a:p>
          <a:p>
            <a:pPr lvl="1"/>
            <a:r>
              <a:rPr lang="en-US" dirty="0"/>
              <a:t>Days until Discharge: 4.29 days (2.72)</a:t>
            </a:r>
          </a:p>
          <a:p>
            <a:r>
              <a:rPr lang="en-US" dirty="0"/>
              <a:t>Proportions of each Categorical Variable:</a:t>
            </a:r>
          </a:p>
          <a:p>
            <a:pPr lvl="1"/>
            <a:r>
              <a:rPr lang="en-US" dirty="0"/>
              <a:t>History of Drug Usage:  .05 (Yes), .95 (No)</a:t>
            </a:r>
          </a:p>
          <a:p>
            <a:pPr lvl="1"/>
            <a:r>
              <a:rPr lang="en-US" dirty="0"/>
              <a:t>History of Alcoholism: .04 (Yes), .96 (No)</a:t>
            </a:r>
          </a:p>
          <a:p>
            <a:pPr lvl="1"/>
            <a:r>
              <a:rPr lang="en-US" dirty="0"/>
              <a:t>Chronic Pain: .90 (Never), .03 (Previous), .07 (Current)</a:t>
            </a:r>
          </a:p>
          <a:p>
            <a:pPr lvl="1"/>
            <a:r>
              <a:rPr lang="en-US" dirty="0"/>
              <a:t>History of Tobacco: .331 (Current), .152 (Previous), .52 (Never) </a:t>
            </a:r>
          </a:p>
          <a:p>
            <a:pPr lvl="1"/>
            <a:r>
              <a:rPr lang="en-US" dirty="0"/>
              <a:t>Facility ID: .27 (ID = 8128), .31 (ID = 8131), .42 (ID = 8201)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5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6447-9FF1-C8ED-243E-FEF2BAA3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8344D-0AD7-5620-1A19-6F85A1557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7507 of the 8713 patients had complete data for the selected predictor variables</a:t>
            </a:r>
          </a:p>
          <a:p>
            <a:r>
              <a:rPr lang="en-US" dirty="0"/>
              <a:t> The most common missing variables were History of Drug Usage, History of Alcoholism, and Chronic Pain</a:t>
            </a:r>
          </a:p>
          <a:p>
            <a:pPr lvl="1"/>
            <a:r>
              <a:rPr lang="en-US" dirty="0"/>
              <a:t>Additionally, the least common variables with missing data (that weren’t pre-selected to be complete) were Weight and Height</a:t>
            </a:r>
          </a:p>
          <a:p>
            <a:r>
              <a:rPr lang="en-US" dirty="0"/>
              <a:t>The most common pattern was just Drug Usage, followed by just Chronic Pain and all three history variables</a:t>
            </a:r>
          </a:p>
          <a:p>
            <a:r>
              <a:rPr lang="en-US" dirty="0"/>
              <a:t>In total about 2% of the data was missing following data cleanup</a:t>
            </a:r>
          </a:p>
        </p:txBody>
      </p:sp>
    </p:spTree>
    <p:extLst>
      <p:ext uri="{BB962C8B-B14F-4D97-AF65-F5344CB8AC3E}">
        <p14:creationId xmlns:p14="http://schemas.microsoft.com/office/powerpoint/2010/main" val="2196707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84B1A-4E19-3F25-98F1-BA90697E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191BAC-45B4-29AA-2C38-B580F2C3B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672" y="1286776"/>
            <a:ext cx="7584378" cy="489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67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0C28-02D2-612A-B695-2CE165B7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 in Training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9BFD0-F57C-9DA9-2E9F-4D004B803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880 of 1000 selected patients had complete profiles</a:t>
            </a:r>
          </a:p>
          <a:p>
            <a:r>
              <a:rPr lang="en-US" dirty="0"/>
              <a:t>The exact same three variables and patterns from the whole dataset were most common</a:t>
            </a:r>
          </a:p>
          <a:p>
            <a:r>
              <a:rPr lang="en-US" dirty="0"/>
              <a:t>202/10000 total entries were missing, matching the overall dataset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1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819D4-837E-B713-C48D-70849DBE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 in Training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A606A2-C979-54A8-952B-D1FE82CAF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561" y="1643631"/>
            <a:ext cx="7520878" cy="484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50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531E0-0F68-72DE-8C48-CF86678D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DC2E-13CC-3432-8FA7-21BB292FE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imputations were performed</a:t>
            </a:r>
          </a:p>
          <a:p>
            <a:r>
              <a:rPr lang="en-US" dirty="0"/>
              <a:t>10 imputations with 10 iterations were done</a:t>
            </a:r>
          </a:p>
          <a:p>
            <a:r>
              <a:rPr lang="en-US" dirty="0"/>
              <a:t>This imputed dataset was used for the next four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2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71E92-89D2-2C86-88DD-AEA72B6C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Log-Linear Model	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9D738B-20FC-0419-B0F3-A786EA37B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2787" y="3058319"/>
            <a:ext cx="5686425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44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EE435-77C4-C4CC-7589-1848F1C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Log-Linear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27522-AD55-FBB7-8369-0677E5D0E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Log-Linear was chosen to keep values positive and continuous</a:t>
            </a:r>
          </a:p>
          <a:p>
            <a:r>
              <a:rPr lang="en-US" dirty="0"/>
              <a:t>Significant predictors at the .05 level were the intercept and Weight</a:t>
            </a:r>
          </a:p>
          <a:p>
            <a:r>
              <a:rPr lang="en-US" dirty="0"/>
              <a:t>Significant predictors at the .10 level were History of Alcohol and Age</a:t>
            </a:r>
          </a:p>
          <a:p>
            <a:r>
              <a:rPr lang="en-US" dirty="0"/>
              <a:t>The predicted mean number of days until discharge was 3.74</a:t>
            </a:r>
          </a:p>
          <a:p>
            <a:r>
              <a:rPr lang="en-US" dirty="0"/>
              <a:t>The MSE was 7.81</a:t>
            </a:r>
          </a:p>
        </p:txBody>
      </p:sp>
    </p:spTree>
    <p:extLst>
      <p:ext uri="{BB962C8B-B14F-4D97-AF65-F5344CB8AC3E}">
        <p14:creationId xmlns:p14="http://schemas.microsoft.com/office/powerpoint/2010/main" val="3629640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E45AF-22ED-0ED9-B573-54DC34C78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Tree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294D5-AB28-B4E2-68A8-DDAF87039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Formula: Discharge ~ .</a:t>
            </a:r>
          </a:p>
          <a:p>
            <a:r>
              <a:rPr lang="en-US" dirty="0"/>
              <a:t>Most variables were discarded</a:t>
            </a:r>
          </a:p>
          <a:p>
            <a:r>
              <a:rPr lang="en-US" dirty="0"/>
              <a:t>The variables that were used to make the tree were Facility ID, Age, and Weight</a:t>
            </a:r>
          </a:p>
          <a:p>
            <a:r>
              <a:rPr lang="en-US" dirty="0"/>
              <a:t>The tree had 5 terminal nodes, and the range of predicted values was (2.67, 7.20)</a:t>
            </a:r>
          </a:p>
          <a:p>
            <a:r>
              <a:rPr lang="en-US" dirty="0"/>
              <a:t>The mean predicted value was 4.11 and the MSE was 7.81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09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D67F4-0894-386B-EA61-E70656D6D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Tree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611D75-DB57-BDC7-EECF-A704D880E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672" y="1825625"/>
            <a:ext cx="67486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45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1461-59CD-642F-1EA6-BA451D631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F7C5-628C-0B4D-9ECF-72CCE498D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Formula: Discharge ~ .</a:t>
            </a:r>
          </a:p>
          <a:p>
            <a:r>
              <a:rPr lang="en-US" dirty="0"/>
              <a:t>Number of trees: 1000</a:t>
            </a:r>
          </a:p>
          <a:p>
            <a:r>
              <a:rPr lang="en-US" dirty="0"/>
              <a:t>The mean prediction value was 3.30, which was notably lower than the other models, and the MSE was 7.76</a:t>
            </a:r>
          </a:p>
          <a:p>
            <a:r>
              <a:rPr lang="en-US" dirty="0"/>
              <a:t>This model deviated from the mean of the training set the most (by almost 1 whole day)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790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57D81-CA2A-CD5E-F8DB-8DB6C679D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8305C-0AE0-DF8B-205A-6E714B6E8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Formula: Discharge ~ </a:t>
            </a:r>
            <a:r>
              <a:rPr lang="en-US" dirty="0" err="1"/>
              <a:t>FacilityID</a:t>
            </a:r>
            <a:r>
              <a:rPr lang="en-US" dirty="0"/>
              <a:t> + Weight + Height + </a:t>
            </a:r>
            <a:r>
              <a:rPr lang="en-US" dirty="0" err="1"/>
              <a:t>HOfAlcohol</a:t>
            </a:r>
            <a:r>
              <a:rPr lang="en-US" dirty="0"/>
              <a:t> + </a:t>
            </a:r>
            <a:r>
              <a:rPr lang="en-US" dirty="0" err="1"/>
              <a:t>HOfTob</a:t>
            </a:r>
            <a:r>
              <a:rPr lang="en-US" dirty="0"/>
              <a:t> + </a:t>
            </a:r>
            <a:r>
              <a:rPr lang="en-US" dirty="0" err="1"/>
              <a:t>HOfDrugs</a:t>
            </a:r>
            <a:r>
              <a:rPr lang="en-US" dirty="0"/>
              <a:t> + </a:t>
            </a:r>
            <a:r>
              <a:rPr lang="en-US" dirty="0" err="1"/>
              <a:t>ChrPain</a:t>
            </a:r>
            <a:r>
              <a:rPr lang="en-US" dirty="0"/>
              <a:t> + Age</a:t>
            </a:r>
          </a:p>
          <a:p>
            <a:r>
              <a:rPr lang="en-US" dirty="0"/>
              <a:t>The optimal lambda value using CV methodology was .424</a:t>
            </a:r>
          </a:p>
          <a:p>
            <a:r>
              <a:rPr lang="en-US" dirty="0"/>
              <a:t>The mean was 4.12 and the MSE was 6.69, the lowest of all the models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22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4C31E-C7C1-B9F8-F373-B3709829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Model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2CC54F-7318-5805-8B85-B7F4BE5714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672" y="1825625"/>
            <a:ext cx="67486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52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E8FB-3169-3576-73BF-E92F63952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6E9FD2-ADB4-65F1-801F-0163F6E6B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672" y="1825625"/>
            <a:ext cx="67486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49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E721-B253-9355-015E-57E9CD7CF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6F8065-69EB-070D-04A9-6510948B63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1483953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8920063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2002881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03966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95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Single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59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15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15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239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915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B83E7-29EA-EDB5-6F39-2911049F5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8E0C4-12F5-AA0C-7B2C-A070FDB93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model performed exceptionally well, but the lasso model had the lowest error</a:t>
            </a:r>
          </a:p>
          <a:p>
            <a:r>
              <a:rPr lang="en-US" dirty="0"/>
              <a:t>Most predictor variables seemed to be insignificant</a:t>
            </a:r>
          </a:p>
          <a:p>
            <a:r>
              <a:rPr lang="en-US" dirty="0"/>
              <a:t>No accounting for complications during the surgery</a:t>
            </a:r>
          </a:p>
          <a:p>
            <a:r>
              <a:rPr lang="en-US" dirty="0"/>
              <a:t>Lasso removed the NA values from the analysis, likely leading to higher performance</a:t>
            </a:r>
          </a:p>
          <a:p>
            <a:r>
              <a:rPr lang="en-US" dirty="0"/>
              <a:t>The original dataset had many missing values, </a:t>
            </a:r>
            <a:r>
              <a:rPr lang="en-US"/>
              <a:t>which could lead </a:t>
            </a:r>
            <a:r>
              <a:rPr lang="en-US" dirty="0"/>
              <a:t>to higher variance in the predictions</a:t>
            </a:r>
          </a:p>
        </p:txBody>
      </p:sp>
    </p:spTree>
    <p:extLst>
      <p:ext uri="{BB962C8B-B14F-4D97-AF65-F5344CB8AC3E}">
        <p14:creationId xmlns:p14="http://schemas.microsoft.com/office/powerpoint/2010/main" val="2834368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E3FF5-69A4-ED37-2B5C-9E9FAF03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75C29-1735-3980-6D9D-AB065E0BC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Link: </a:t>
            </a:r>
            <a:r>
              <a:rPr lang="en-US" dirty="0">
                <a:hlinkClick r:id="rId2"/>
              </a:rPr>
              <a:t>https://github.com/SAHagen/HDS5101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968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822</Words>
  <Application>Microsoft Office PowerPoint</Application>
  <PresentationFormat>Widescreen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Predicting Time until Discharge Following Kidney Donation</vt:lpstr>
      <vt:lpstr>Dataset and Data Cleaning</vt:lpstr>
      <vt:lpstr>Data Wrangling</vt:lpstr>
      <vt:lpstr>Summary Statistics</vt:lpstr>
      <vt:lpstr>Missing Data</vt:lpstr>
      <vt:lpstr>Missing Data</vt:lpstr>
      <vt:lpstr>Missing Data in Training Data</vt:lpstr>
      <vt:lpstr>Missing Data in Training Data</vt:lpstr>
      <vt:lpstr>Imputation</vt:lpstr>
      <vt:lpstr>Log-Linear Model </vt:lpstr>
      <vt:lpstr>Log-Linear Model</vt:lpstr>
      <vt:lpstr>Single Tree Model</vt:lpstr>
      <vt:lpstr>Single Tree Model</vt:lpstr>
      <vt:lpstr>Random Forest</vt:lpstr>
      <vt:lpstr>Lasso Model</vt:lpstr>
      <vt:lpstr>Lasso Model</vt:lpstr>
      <vt:lpstr>Lasso Model</vt:lpstr>
      <vt:lpstr>Final Comparison</vt:lpstr>
      <vt:lpstr>Final Remarks</vt:lpstr>
      <vt:lpstr>Github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Hagen, Stewart</dc:creator>
  <cp:lastModifiedBy>Hagen, Stewart</cp:lastModifiedBy>
  <cp:revision>31</cp:revision>
  <dcterms:created xsi:type="dcterms:W3CDTF">2026-03-30T15:00:58Z</dcterms:created>
  <dcterms:modified xsi:type="dcterms:W3CDTF">2026-03-30T17:58:10Z</dcterms:modified>
</cp:coreProperties>
</file>